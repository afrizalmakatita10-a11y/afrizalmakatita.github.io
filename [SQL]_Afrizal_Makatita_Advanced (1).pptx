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RobotoMono-regular.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4873bb2c5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d4873bb2c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44b6370d0_0_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44b6370d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4873bb2c5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d4873bb2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4a3435036_0_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4a343503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4a3435036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4a343503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4a3435036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4a343503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e31a3ae35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e31a3ae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4e9ad4da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4e9ad4d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e31a3ae35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e31a3ae3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4f3a8a2a0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4f3a8a2a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e31a3ae35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e31a3ae3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B5394"/>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B5394"/>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1449899" y="77425"/>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1449899" y="4885550"/>
            <a:ext cx="6244200" cy="0"/>
          </a:xfrm>
          <a:prstGeom prst="straightConnector1">
            <a:avLst/>
          </a:prstGeom>
          <a:noFill/>
          <a:ln cap="flat" cmpd="sng" w="19050">
            <a:solidFill>
              <a:schemeClr val="dk2"/>
            </a:solidFill>
            <a:prstDash val="solid"/>
            <a:round/>
            <a:headEnd len="sm" w="sm" type="none"/>
            <a:tailEnd len="sm" w="sm" type="none"/>
          </a:ln>
        </p:spPr>
      </p:cxnSp>
      <p:sp>
        <p:nvSpPr>
          <p:cNvPr id="31" name="Google Shape;31;p5"/>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5"/>
          <p:cNvSpPr txBox="1"/>
          <p:nvPr>
            <p:ph idx="1" type="body"/>
          </p:nvPr>
        </p:nvSpPr>
        <p:spPr>
          <a:xfrm>
            <a:off x="1449900" y="967925"/>
            <a:ext cx="6244200" cy="3720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cxnSp>
        <p:nvCxnSpPr>
          <p:cNvPr id="38" name="Google Shape;38;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9" name="Google Shape;39;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cxnSp>
        <p:nvCxnSpPr>
          <p:cNvPr id="43" name="Google Shape;43;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5" name="Google Shape;45;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46" name="Shape 46"/>
        <p:cNvGrpSpPr/>
        <p:nvPr/>
      </p:nvGrpSpPr>
      <p:grpSpPr>
        <a:xfrm>
          <a:off x="0" y="0"/>
          <a:ext cx="0" cy="0"/>
          <a:chOff x="0" y="0"/>
          <a:chExt cx="0" cy="0"/>
        </a:xfrm>
      </p:grpSpPr>
      <p:sp>
        <p:nvSpPr>
          <p:cNvPr id="47" name="Google Shape;47;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3600"/>
              <a:buNone/>
              <a:defRPr sz="3600">
                <a:solidFill>
                  <a:schemeClr val="accent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49" name="Google Shape;49;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cxnSp>
        <p:nvCxnSpPr>
          <p:cNvPr id="53" name="Google Shape;53;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4" name="Google Shape;54;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5" name="Google Shape;55;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6" name="Google Shape;56;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cxnSp>
        <p:nvCxnSpPr>
          <p:cNvPr id="58" name="Google Shape;58;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9" name="Google Shape;59;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0" name="Google Shape;60;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9600"/>
              <a:buFont typeface="Lato"/>
              <a:buNone/>
              <a:defRPr sz="9600">
                <a:solidFill>
                  <a:schemeClr val="accent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1" name="Google Shape;61;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2" name="Google Shape;62;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console.cloud.google.com/bigquery?p=bigquery-public-data&amp;d=thelook_ecommerce&amp;page=dataset&amp;project=revou-sql-class-491810&amp;ws=!1m21!1m6!12m5!1m3!1srevou-sql-class-491810!2sasia-southeast2!3s3568a330-f4b6-4170-90b2-a1948c671dee!2e1!1m3!8m2!1s593116184844!2sd737fb0d10ee41ad8df24d0b2cb70999!1m4!4m3!1srevou-sql-class-491810!2sAdvanced!3s2022_Cohort!1m4!4m3!1srevou-sql-class-491810!2sAdvanced!3sInventory_growth"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docs.google.com/spreadsheets/d/1Ps6AnLgLZkSlRxnHZLPD0IPFFrv4idT29UWD7ErttxE/edit?gid=90234179#gid=90234179"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console.cloud.google.com/bigquery?p=bigquery-public-data&amp;d=thelook_ecommerce&amp;page=dataset&amp;project=revou-sql-class-491810&amp;ws=!1m21!1m6!12m5!1m3!1srevou-sql-class-491810!2sasia-southeast2!3s3568a330-f4b6-4170-90b2-a1948c671dee!2e1!1m3!8m2!1s593116184844!2sd737fb0d10ee41ad8df24d0b2cb70999!1m4!4m3!1srevou-sql-class-491810!2sAdvanced!3s2022_Cohort!1m4!4m3!1srevou-sql-class-491810!2sAdvanced!3sInventory_growt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docs.google.com/spreadsheets/d/1TFqJe6xFHA9ost8a39qbIPaRaOsNUtuD-TQT90cjBPQ/edit?gid=2080472723#gid=2080472723"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ctrTitle"/>
          </p:nvPr>
        </p:nvSpPr>
        <p:spPr>
          <a:xfrm>
            <a:off x="2371725" y="630225"/>
            <a:ext cx="6331500" cy="22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Look Performance Analysis</a:t>
            </a:r>
            <a:endParaRPr/>
          </a:p>
        </p:txBody>
      </p:sp>
      <p:sp>
        <p:nvSpPr>
          <p:cNvPr id="70" name="Google Shape;70;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Afrizal A Makatita</a:t>
            </a:r>
            <a:endParaRPr/>
          </a:p>
          <a:p>
            <a:pPr indent="0" lvl="0" marL="0" rtl="0" algn="l">
              <a:spcBef>
                <a:spcPts val="0"/>
              </a:spcBef>
              <a:spcAft>
                <a:spcPts val="0"/>
              </a:spcAft>
              <a:buNone/>
            </a:pPr>
            <a:r>
              <a:rPr lang="en"/>
              <a:t>Friday, April 10 2026</a:t>
            </a:r>
            <a:endParaRPr/>
          </a:p>
          <a:p>
            <a:pPr indent="0" lvl="0" marL="0" rtl="0" algn="l">
              <a:spcBef>
                <a:spcPts val="0"/>
              </a:spcBef>
              <a:spcAft>
                <a:spcPts val="0"/>
              </a:spcAft>
              <a:buNone/>
            </a:pPr>
            <a:r>
              <a:rPr lang="en"/>
              <a:t>RevoU FSDA BATCH FEB26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Company</a:t>
            </a:r>
            <a:endParaRPr/>
          </a:p>
          <a:p>
            <a:pPr indent="0" lvl="0" marL="0" rtl="0" algn="ctr">
              <a:spcBef>
                <a:spcPts val="0"/>
              </a:spcBef>
              <a:spcAft>
                <a:spcPts val="0"/>
              </a:spcAft>
              <a:buNone/>
            </a:pPr>
            <a:r>
              <a:rPr lang="en"/>
              <a:t>Overview</a:t>
            </a:r>
            <a:endParaRPr/>
          </a:p>
        </p:txBody>
      </p:sp>
      <p:sp>
        <p:nvSpPr>
          <p:cNvPr id="76" name="Google Shape;76;p14"/>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600"/>
              </a:spcBef>
              <a:spcAft>
                <a:spcPts val="600"/>
              </a:spcAft>
              <a:buNone/>
            </a:pPr>
            <a:r>
              <a:rPr lang="en" sz="1500"/>
              <a:t>TheLook is a </a:t>
            </a:r>
            <a:r>
              <a:rPr lang="en" sz="1500"/>
              <a:t>fictitious eCommerce clothing site developed by Looker Team TheLook eCommerce currently, is in the optimization mode caused by the potential crisis of 2023. The management has decided to cut off resources in some categories with the lowest growth in the past 1 year</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1443550" y="204975"/>
            <a:ext cx="6243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Scheme and Preview</a:t>
            </a:r>
            <a:endParaRPr/>
          </a:p>
        </p:txBody>
      </p:sp>
      <p:sp>
        <p:nvSpPr>
          <p:cNvPr id="82" name="Google Shape;82;p15"/>
          <p:cNvSpPr txBox="1"/>
          <p:nvPr>
            <p:ph idx="1" type="body"/>
          </p:nvPr>
        </p:nvSpPr>
        <p:spPr>
          <a:xfrm>
            <a:off x="1443550" y="840375"/>
            <a:ext cx="6243600" cy="38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700">
              <a:solidFill>
                <a:schemeClr val="accent1"/>
              </a:solidFill>
            </a:endParaRPr>
          </a:p>
          <a:p>
            <a:pPr indent="0" lvl="0" marL="0" rtl="0" algn="l">
              <a:spcBef>
                <a:spcPts val="1600"/>
              </a:spcBef>
              <a:spcAft>
                <a:spcPts val="1600"/>
              </a:spcAft>
              <a:buNone/>
            </a:pPr>
            <a:r>
              <a:t/>
            </a:r>
            <a:endParaRPr b="1" sz="1700">
              <a:solidFill>
                <a:schemeClr val="accent1"/>
              </a:solidFill>
            </a:endParaRPr>
          </a:p>
        </p:txBody>
      </p:sp>
      <p:pic>
        <p:nvPicPr>
          <p:cNvPr id="83" name="Google Shape;83;p15" title="Screenshot 2026-04-10 215757.png"/>
          <p:cNvPicPr preferRelativeResize="0"/>
          <p:nvPr/>
        </p:nvPicPr>
        <p:blipFill>
          <a:blip r:embed="rId3">
            <a:alphaModFix/>
          </a:blip>
          <a:stretch>
            <a:fillRect/>
          </a:stretch>
        </p:blipFill>
        <p:spPr>
          <a:xfrm>
            <a:off x="0" y="840375"/>
            <a:ext cx="9144001" cy="38483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Scheme and Preview</a:t>
            </a:r>
            <a:endParaRPr/>
          </a:p>
        </p:txBody>
      </p:sp>
      <p:sp>
        <p:nvSpPr>
          <p:cNvPr id="89" name="Google Shape;89;p16"/>
          <p:cNvSpPr txBox="1"/>
          <p:nvPr>
            <p:ph idx="1" type="body"/>
          </p:nvPr>
        </p:nvSpPr>
        <p:spPr>
          <a:xfrm>
            <a:off x="1449900" y="840375"/>
            <a:ext cx="6244200" cy="3848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b="1" sz="1700">
              <a:solidFill>
                <a:schemeClr val="accent1"/>
              </a:solidFill>
            </a:endParaRPr>
          </a:p>
        </p:txBody>
      </p:sp>
      <p:pic>
        <p:nvPicPr>
          <p:cNvPr id="90" name="Google Shape;90;p16" title="Screenshot 2026-04-10 213529.png"/>
          <p:cNvPicPr preferRelativeResize="0"/>
          <p:nvPr/>
        </p:nvPicPr>
        <p:blipFill>
          <a:blip r:embed="rId3">
            <a:alphaModFix/>
          </a:blip>
          <a:stretch>
            <a:fillRect/>
          </a:stretch>
        </p:blipFill>
        <p:spPr>
          <a:xfrm>
            <a:off x="0" y="840375"/>
            <a:ext cx="9144001" cy="3848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Monthly Inventory Growth by Product Category Syntax </a:t>
            </a:r>
            <a:r>
              <a:rPr lang="en" sz="1500" u="sng">
                <a:solidFill>
                  <a:schemeClr val="hlink"/>
                </a:solidFill>
                <a:hlinkClick r:id="rId3"/>
              </a:rPr>
              <a:t>Advanced_Query</a:t>
            </a:r>
            <a:endParaRPr sz="1500"/>
          </a:p>
        </p:txBody>
      </p:sp>
      <p:sp>
        <p:nvSpPr>
          <p:cNvPr id="96" name="Google Shape;96;p17"/>
          <p:cNvSpPr txBox="1"/>
          <p:nvPr>
            <p:ph idx="1" type="body"/>
          </p:nvPr>
        </p:nvSpPr>
        <p:spPr>
          <a:xfrm>
            <a:off x="1449900" y="840375"/>
            <a:ext cx="6244200" cy="3848400"/>
          </a:xfrm>
          <a:prstGeom prst="rect">
            <a:avLst/>
          </a:prstGeom>
        </p:spPr>
        <p:txBody>
          <a:bodyPr anchorCtr="0" anchor="t" bIns="91425" lIns="91425" spcFirstLastPara="1" rIns="91425" wrap="square" tIns="91425">
            <a:noAutofit/>
          </a:bodyPr>
          <a:lstStyle/>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WITH</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cte_1</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ii.product_category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DATE_TRUNC</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ii.created_at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COUNT</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ii.id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total_inbound</a:t>
            </a:r>
            <a:r>
              <a:rPr lang="en" sz="500">
                <a:solidFill>
                  <a:srgbClr val="202124"/>
                </a:solidFill>
                <a:highlight>
                  <a:srgbClr val="FFFFFF"/>
                </a:highlight>
                <a:latin typeface="Roboto Mono"/>
                <a:ea typeface="Roboto Mono"/>
                <a:cs typeface="Roboto Mono"/>
                <a:sym typeface="Roboto Mono"/>
              </a:rPr>
              <a:t> ,</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 Menggunakan COUNT(oi.id) untuk menghitung barang yang terjual/keluar</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COUNT</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oi.id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total_outbond</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`fsda-sql-01.TheLook_Ecommerce.inventory_items`</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ii</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LEFT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JOIN</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`fsda-sql-01.TheLook_Ecommerce.order_items`</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oi</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ON</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ii.id</a:t>
            </a:r>
            <a:r>
              <a:rPr lang="en" sz="500">
                <a:solidFill>
                  <a:srgbClr val="202124"/>
                </a:solidFill>
                <a:highlight>
                  <a:srgbClr val="FFFFFF"/>
                </a:highlight>
                <a:latin typeface="Roboto Mono"/>
                <a:ea typeface="Roboto Mono"/>
                <a:cs typeface="Roboto Mono"/>
                <a:sym typeface="Roboto Mono"/>
              </a:rPr>
              <a:t> = </a:t>
            </a:r>
            <a:r>
              <a:rPr lang="en" sz="500">
                <a:highlight>
                  <a:srgbClr val="FFFFFF"/>
                </a:highlight>
                <a:latin typeface="Roboto Mono"/>
                <a:ea typeface="Roboto Mono"/>
                <a:cs typeface="Roboto Mono"/>
                <a:sym typeface="Roboto Mono"/>
              </a:rPr>
              <a:t>oi.inventory_item_id</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GROUP</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1</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2</a:t>
            </a:r>
            <a:endParaRPr sz="5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highlight>
                  <a:srgbClr val="FFFFFF"/>
                </a:highlight>
                <a:latin typeface="Roboto Mono"/>
                <a:ea typeface="Roboto Mono"/>
                <a:cs typeface="Roboto Mono"/>
                <a:sym typeface="Roboto Mono"/>
              </a:rPr>
              <a:t>cte_2</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product_category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 Net Inventory bulan ini: Selisih antara barang masuk dan keluar</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total_inbound</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total_outbond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net_stock_level</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cte_1</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highlight>
                  <a:srgbClr val="FFFFFF"/>
                </a:highlight>
                <a:latin typeface="Roboto Mono"/>
                <a:ea typeface="Roboto Mono"/>
                <a:cs typeface="Roboto Mono"/>
                <a:sym typeface="Roboto Mono"/>
              </a:rPr>
              <a:t>cte_3</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product_category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net_stock_level</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LAG</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net_stock_level</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OVER</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PARTITION</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product_category</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ORDER</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prev_month_stock</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cte_2</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product_category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net_stock_level</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ROUND</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SAFE_DIVIDE</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net_stock_level</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prev_month_stock</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prev_month_stock</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100</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2</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inventory_growth_prcnt</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cte_3</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ORDER</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product_category</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ASC</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monthly</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DESC</a:t>
            </a:r>
            <a:endParaRPr sz="500">
              <a:solidFill>
                <a:srgbClr val="1967D2"/>
              </a:solidFill>
              <a:highlight>
                <a:srgbClr val="FFFFFF"/>
              </a:highlight>
              <a:latin typeface="Roboto Mono"/>
              <a:ea typeface="Roboto Mono"/>
              <a:cs typeface="Roboto Mono"/>
              <a:sym typeface="Roboto Mono"/>
            </a:endParaRPr>
          </a:p>
          <a:p>
            <a:pPr indent="0" lvl="0" marL="0" rtl="0" algn="l">
              <a:spcBef>
                <a:spcPts val="0"/>
              </a:spcBef>
              <a:spcAft>
                <a:spcPts val="1600"/>
              </a:spcAft>
              <a:buNone/>
            </a:pPr>
            <a:r>
              <a:t/>
            </a:r>
            <a:endParaRPr b="1" sz="50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Visualization </a:t>
            </a:r>
            <a:r>
              <a:rPr lang="en" u="sng">
                <a:solidFill>
                  <a:schemeClr val="hlink"/>
                </a:solidFill>
                <a:hlinkClick r:id="rId3"/>
              </a:rPr>
              <a:t>Spreadsheet</a:t>
            </a:r>
            <a:r>
              <a:rPr lang="en"/>
              <a:t> </a:t>
            </a:r>
            <a:endParaRPr/>
          </a:p>
        </p:txBody>
      </p:sp>
      <p:sp>
        <p:nvSpPr>
          <p:cNvPr id="102" name="Google Shape;102;p18"/>
          <p:cNvSpPr txBox="1"/>
          <p:nvPr>
            <p:ph idx="1" type="body"/>
          </p:nvPr>
        </p:nvSpPr>
        <p:spPr>
          <a:xfrm>
            <a:off x="1449900" y="840375"/>
            <a:ext cx="6244200" cy="38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700">
              <a:solidFill>
                <a:schemeClr val="accent1"/>
              </a:solidFill>
            </a:endParaRPr>
          </a:p>
          <a:p>
            <a:pPr indent="0" lvl="0" marL="0" rtl="0" algn="l">
              <a:spcBef>
                <a:spcPts val="1600"/>
              </a:spcBef>
              <a:spcAft>
                <a:spcPts val="1600"/>
              </a:spcAft>
              <a:buNone/>
            </a:pPr>
            <a:r>
              <a:t/>
            </a:r>
            <a:endParaRPr b="1" sz="1700">
              <a:solidFill>
                <a:schemeClr val="accent1"/>
              </a:solidFill>
            </a:endParaRPr>
          </a:p>
        </p:txBody>
      </p:sp>
      <p:pic>
        <p:nvPicPr>
          <p:cNvPr id="103" name="Google Shape;103;p18" title="Screenshot 2026-04-10 215401.png"/>
          <p:cNvPicPr preferRelativeResize="0"/>
          <p:nvPr/>
        </p:nvPicPr>
        <p:blipFill>
          <a:blip r:embed="rId4">
            <a:alphaModFix/>
          </a:blip>
          <a:stretch>
            <a:fillRect/>
          </a:stretch>
        </p:blipFill>
        <p:spPr>
          <a:xfrm>
            <a:off x="376975" y="840375"/>
            <a:ext cx="8390050" cy="38483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1359450" y="204975"/>
            <a:ext cx="64539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 Derivation</a:t>
            </a:r>
            <a:endParaRPr/>
          </a:p>
        </p:txBody>
      </p:sp>
      <p:sp>
        <p:nvSpPr>
          <p:cNvPr id="109" name="Google Shape;109;p19"/>
          <p:cNvSpPr txBox="1"/>
          <p:nvPr>
            <p:ph idx="1" type="body"/>
          </p:nvPr>
        </p:nvSpPr>
        <p:spPr>
          <a:xfrm>
            <a:off x="1345050" y="2780700"/>
            <a:ext cx="6453900" cy="236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1.Inventory Trend</a:t>
            </a:r>
            <a:endParaRPr sz="1100"/>
          </a:p>
          <a:p>
            <a:pPr indent="0" lvl="0" marL="0" rtl="0" algn="l">
              <a:spcBef>
                <a:spcPts val="1200"/>
              </a:spcBef>
              <a:spcAft>
                <a:spcPts val="0"/>
              </a:spcAft>
              <a:buNone/>
            </a:pPr>
            <a:r>
              <a:rPr lang="en" sz="1100"/>
              <a:t>In the last 2 month inventory quantity and percentage experienced drop, with the worst drop happen on </a:t>
            </a:r>
            <a:r>
              <a:rPr b="1" lang="en" sz="1100"/>
              <a:t>April 2023 with 50% + across all </a:t>
            </a:r>
            <a:r>
              <a:rPr b="1" lang="en" sz="1100"/>
              <a:t>categories</a:t>
            </a:r>
            <a:r>
              <a:rPr b="1" lang="en" sz="1100"/>
              <a:t>,</a:t>
            </a:r>
            <a:r>
              <a:rPr lang="en" sz="1100"/>
              <a:t> This reversal is highly uncharacteristic, as it follows a sustained period of steady positive growth</a:t>
            </a:r>
            <a:endParaRPr sz="1100"/>
          </a:p>
          <a:p>
            <a:pPr indent="0" lvl="0" marL="0" rtl="0" algn="l">
              <a:spcBef>
                <a:spcPts val="1200"/>
              </a:spcBef>
              <a:spcAft>
                <a:spcPts val="0"/>
              </a:spcAft>
              <a:buNone/>
            </a:pPr>
            <a:r>
              <a:rPr lang="en" sz="1100"/>
              <a:t>2. Overall Categories</a:t>
            </a:r>
            <a:endParaRPr sz="1100"/>
          </a:p>
          <a:p>
            <a:pPr indent="0" lvl="0" marL="0" rtl="0" algn="l">
              <a:spcBef>
                <a:spcPts val="1200"/>
              </a:spcBef>
              <a:spcAft>
                <a:spcPts val="0"/>
              </a:spcAft>
              <a:buNone/>
            </a:pPr>
            <a:r>
              <a:rPr b="1" lang="en" sz="1100"/>
              <a:t>All product categories</a:t>
            </a:r>
            <a:r>
              <a:rPr lang="en" sz="1100"/>
              <a:t> experienced the same condition , with all segments experiencing a drop of over 50%, confirms that the issue is not limited to category-specific stocking strategies; rather, it indicates a systemic operational failure</a:t>
            </a:r>
            <a:endParaRPr b="1" sz="1700"/>
          </a:p>
          <a:p>
            <a:pPr indent="0" lvl="0" marL="0" rtl="0" algn="l">
              <a:spcBef>
                <a:spcPts val="1200"/>
              </a:spcBef>
              <a:spcAft>
                <a:spcPts val="1600"/>
              </a:spcAft>
              <a:buNone/>
            </a:pPr>
            <a:r>
              <a:t/>
            </a:r>
            <a:endParaRPr b="1" sz="1700">
              <a:solidFill>
                <a:schemeClr val="accent1"/>
              </a:solidFill>
            </a:endParaRPr>
          </a:p>
        </p:txBody>
      </p:sp>
      <p:pic>
        <p:nvPicPr>
          <p:cNvPr id="110" name="Google Shape;110;p19" title="Screenshot 2026-04-10 214758.png"/>
          <p:cNvPicPr preferRelativeResize="0"/>
          <p:nvPr/>
        </p:nvPicPr>
        <p:blipFill>
          <a:blip r:embed="rId3">
            <a:alphaModFix/>
          </a:blip>
          <a:stretch>
            <a:fillRect/>
          </a:stretch>
        </p:blipFill>
        <p:spPr>
          <a:xfrm>
            <a:off x="0" y="871350"/>
            <a:ext cx="9144002" cy="190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 Derivation</a:t>
            </a:r>
            <a:endParaRPr/>
          </a:p>
        </p:txBody>
      </p:sp>
      <p:sp>
        <p:nvSpPr>
          <p:cNvPr id="116" name="Google Shape;116;p20"/>
          <p:cNvSpPr txBox="1"/>
          <p:nvPr>
            <p:ph idx="1" type="body"/>
          </p:nvPr>
        </p:nvSpPr>
        <p:spPr>
          <a:xfrm>
            <a:off x="1449900" y="910975"/>
            <a:ext cx="6244200" cy="37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accent1"/>
                </a:solidFill>
              </a:rPr>
              <a:t>Company Context (with BCG Matrix)</a:t>
            </a:r>
            <a:endParaRPr b="1" sz="1700">
              <a:solidFill>
                <a:schemeClr val="accent1"/>
              </a:solidFill>
            </a:endParaRPr>
          </a:p>
          <a:p>
            <a:pPr indent="0" lvl="0" marL="0" rtl="0" algn="l">
              <a:spcBef>
                <a:spcPts val="1600"/>
              </a:spcBef>
              <a:spcAft>
                <a:spcPts val="0"/>
              </a:spcAft>
              <a:buNone/>
            </a:pPr>
            <a:r>
              <a:rPr lang="en" sz="1000"/>
              <a:t>1. Optimization Impact &amp; Inventory Crisis</a:t>
            </a:r>
            <a:endParaRPr sz="1000"/>
          </a:p>
          <a:p>
            <a:pPr indent="0" lvl="0" marL="0" rtl="0" algn="l">
              <a:spcBef>
                <a:spcPts val="1600"/>
              </a:spcBef>
              <a:spcAft>
                <a:spcPts val="0"/>
              </a:spcAft>
              <a:buNone/>
            </a:pPr>
            <a:r>
              <a:rPr lang="en" sz="1000"/>
              <a:t>Potentially the Look management team trying to optimize the budget in order to reinvest the budget to something else, potentially for the </a:t>
            </a:r>
            <a:r>
              <a:rPr b="1" lang="en" sz="1000"/>
              <a:t>“star” </a:t>
            </a:r>
            <a:r>
              <a:rPr lang="en" sz="1000"/>
              <a:t>(high shares-high growth)  in this case  they might cut </a:t>
            </a:r>
            <a:r>
              <a:rPr b="1" lang="en" sz="1000"/>
              <a:t>stock acquisition cost</a:t>
            </a:r>
            <a:r>
              <a:rPr lang="en" sz="1000"/>
              <a:t>, resulting on steep decline on inventory quantity, this decline either foreseen or not are proven to be detrimental as at that rate, the company is at risk to l</a:t>
            </a:r>
            <a:r>
              <a:rPr b="1" lang="en" sz="1000"/>
              <a:t>osing sales due to out-of-stock </a:t>
            </a:r>
            <a:endParaRPr b="1" sz="1000"/>
          </a:p>
          <a:p>
            <a:pPr indent="0" lvl="0" marL="0" rtl="0" algn="l">
              <a:spcBef>
                <a:spcPts val="1600"/>
              </a:spcBef>
              <a:spcAft>
                <a:spcPts val="0"/>
              </a:spcAft>
              <a:buNone/>
            </a:pPr>
            <a:r>
              <a:rPr lang="en" sz="1000"/>
              <a:t>2. Systematic Resource Allocation</a:t>
            </a:r>
            <a:endParaRPr sz="1000"/>
          </a:p>
          <a:p>
            <a:pPr indent="0" lvl="0" marL="0" rtl="0" algn="l">
              <a:spcBef>
                <a:spcPts val="1600"/>
              </a:spcBef>
              <a:spcAft>
                <a:spcPts val="1600"/>
              </a:spcAft>
              <a:buNone/>
            </a:pPr>
            <a:r>
              <a:rPr lang="en" sz="1000"/>
              <a:t>The strategy to </a:t>
            </a:r>
            <a:r>
              <a:rPr b="1" lang="en" sz="1000"/>
              <a:t>liquidate the pets </a:t>
            </a:r>
            <a:r>
              <a:rPr lang="en" sz="1000"/>
              <a:t>(low-growth and low-shares categories) </a:t>
            </a:r>
            <a:r>
              <a:rPr lang="en" sz="1000"/>
              <a:t>has backfired.</a:t>
            </a:r>
            <a:r>
              <a:rPr lang="en" sz="1000"/>
              <a:t> Instead of targeting specific areas, the reduction has caused a </a:t>
            </a:r>
            <a:r>
              <a:rPr b="1" lang="en" sz="1000"/>
              <a:t>universal decline</a:t>
            </a:r>
            <a:r>
              <a:rPr lang="en" sz="1000"/>
              <a:t> across all product categories. This indicates a failure in how the optimization was implemented.</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1411200" y="204975"/>
            <a:ext cx="6321600" cy="54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and Scheme preview</a:t>
            </a:r>
            <a:endParaRPr/>
          </a:p>
        </p:txBody>
      </p:sp>
      <p:pic>
        <p:nvPicPr>
          <p:cNvPr id="122" name="Google Shape;122;p21" title="Screenshot 2026-04-10 203534.png"/>
          <p:cNvPicPr preferRelativeResize="0"/>
          <p:nvPr/>
        </p:nvPicPr>
        <p:blipFill rotWithShape="1">
          <a:blip r:embed="rId3">
            <a:alphaModFix/>
          </a:blip>
          <a:srcRect b="0" l="0" r="-24828" t="0"/>
          <a:stretch/>
        </p:blipFill>
        <p:spPr>
          <a:xfrm>
            <a:off x="0" y="752825"/>
            <a:ext cx="9144002" cy="39983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and Scheme preview</a:t>
            </a:r>
            <a:endParaRPr/>
          </a:p>
        </p:txBody>
      </p:sp>
      <p:pic>
        <p:nvPicPr>
          <p:cNvPr id="128" name="Google Shape;128;p22" title="Screenshot 2026-04-10 213546.png"/>
          <p:cNvPicPr preferRelativeResize="0"/>
          <p:nvPr/>
        </p:nvPicPr>
        <p:blipFill>
          <a:blip r:embed="rId3">
            <a:alphaModFix/>
          </a:blip>
          <a:stretch>
            <a:fillRect/>
          </a:stretch>
        </p:blipFill>
        <p:spPr>
          <a:xfrm>
            <a:off x="0" y="840375"/>
            <a:ext cx="9144001" cy="399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2022 Cohort Analysis Syntax </a:t>
            </a:r>
            <a:r>
              <a:rPr lang="en" sz="2100" u="sng">
                <a:solidFill>
                  <a:schemeClr val="hlink"/>
                </a:solidFill>
                <a:hlinkClick r:id="rId3"/>
              </a:rPr>
              <a:t>Advanced_Query</a:t>
            </a:r>
            <a:r>
              <a:rPr lang="en" sz="2100"/>
              <a:t> </a:t>
            </a:r>
            <a:endParaRPr sz="2100"/>
          </a:p>
        </p:txBody>
      </p:sp>
      <p:sp>
        <p:nvSpPr>
          <p:cNvPr id="134" name="Google Shape;134;p23"/>
          <p:cNvSpPr txBox="1"/>
          <p:nvPr>
            <p:ph idx="1" type="body"/>
          </p:nvPr>
        </p:nvSpPr>
        <p:spPr>
          <a:xfrm>
            <a:off x="1449900" y="840375"/>
            <a:ext cx="6244200" cy="3848400"/>
          </a:xfrm>
          <a:prstGeom prst="rect">
            <a:avLst/>
          </a:prstGeom>
        </p:spPr>
        <p:txBody>
          <a:bodyPr anchorCtr="0" anchor="t" bIns="91425" lIns="91425" spcFirstLastPara="1" rIns="91425" wrap="square" tIns="91425">
            <a:noAutofit/>
          </a:bodyPr>
          <a:lstStyle/>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WITH</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cte_1</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DISTINCT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user_id</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--Mencari kapan transaksi pertama</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MIN</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DATE_TRUNC</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DATE</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created_at</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month</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OVER</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PARTITION</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user_id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first_month_date</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--Mencari transaksi selanjutnya</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DATE_TRUNC</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DATE</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created_at</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month</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running_month_date</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`fsda-sql-01.TheLook_Ecommerce.orders`</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highlight>
                  <a:srgbClr val="FFFFFF"/>
                </a:highlight>
                <a:latin typeface="Roboto Mono"/>
                <a:ea typeface="Roboto Mono"/>
                <a:cs typeface="Roboto Mono"/>
                <a:sym typeface="Roboto Mono"/>
              </a:rPr>
              <a:t>cte_2</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--Mencari selisih waktu belanja awal dan belanja selanjutnya</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DATE_DIFF</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running_month_date</a:t>
            </a:r>
            <a:r>
              <a:rPr lang="en" sz="500">
                <a:solidFill>
                  <a:srgbClr val="202124"/>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first_month_date</a:t>
            </a:r>
            <a:r>
              <a:rPr lang="en" sz="500">
                <a:solidFill>
                  <a:srgbClr val="202124"/>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month</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diff_month</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--Mencari jumlah cohort bulanan</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COUNT</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DISTINCT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user_id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OVER</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PARTITION</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first_month_date</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cohort_size</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cte_1</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highlight>
                  <a:srgbClr val="FFFFFF"/>
                </a:highlight>
                <a:latin typeface="Roboto Mono"/>
                <a:ea typeface="Roboto Mono"/>
                <a:cs typeface="Roboto Mono"/>
                <a:sym typeface="Roboto Mono"/>
              </a:rPr>
              <a:t>cte_3</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first_month_date</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diff_month</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cohort_size</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B80672"/>
                </a:solidFill>
                <a:highlight>
                  <a:srgbClr val="FFFFFF"/>
                </a:highlight>
                <a:latin typeface="Roboto Mono"/>
                <a:ea typeface="Roboto Mono"/>
                <a:cs typeface="Roboto Mono"/>
                <a:sym typeface="Roboto Mono"/>
              </a:rPr>
              <a:t>--Mencari user yang melakukan pembelian lagi sesuai running month masing"</a:t>
            </a:r>
            <a:endParaRPr sz="500">
              <a:solidFill>
                <a:srgbClr val="B8067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COUNT</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DISTINCT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user_id</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total_user</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cte_2</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WHERE</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first_month_date</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BETWEEN</a:t>
            </a:r>
            <a:r>
              <a:rPr lang="en" sz="500">
                <a:solidFill>
                  <a:srgbClr val="202124"/>
                </a:solidFill>
                <a:highlight>
                  <a:srgbClr val="FFFFFF"/>
                </a:highlight>
                <a:latin typeface="Roboto Mono"/>
                <a:ea typeface="Roboto Mono"/>
                <a:cs typeface="Roboto Mono"/>
                <a:sym typeface="Roboto Mono"/>
              </a:rPr>
              <a:t> </a:t>
            </a:r>
            <a:r>
              <a:rPr lang="en" sz="500">
                <a:solidFill>
                  <a:srgbClr val="188038"/>
                </a:solidFill>
                <a:highlight>
                  <a:srgbClr val="FFFFFF"/>
                </a:highlight>
                <a:latin typeface="Roboto Mono"/>
                <a:ea typeface="Roboto Mono"/>
                <a:cs typeface="Roboto Mono"/>
                <a:sym typeface="Roboto Mono"/>
              </a:rPr>
              <a:t>"2022-01-01"</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AND</a:t>
            </a:r>
            <a:r>
              <a:rPr lang="en" sz="500">
                <a:solidFill>
                  <a:srgbClr val="202124"/>
                </a:solidFill>
                <a:highlight>
                  <a:srgbClr val="FFFFFF"/>
                </a:highlight>
                <a:latin typeface="Roboto Mono"/>
                <a:ea typeface="Roboto Mono"/>
                <a:cs typeface="Roboto Mono"/>
                <a:sym typeface="Roboto Mono"/>
              </a:rPr>
              <a:t>  </a:t>
            </a:r>
            <a:r>
              <a:rPr lang="en" sz="500">
                <a:solidFill>
                  <a:srgbClr val="188038"/>
                </a:solidFill>
                <a:highlight>
                  <a:srgbClr val="FFFFFF"/>
                </a:highlight>
                <a:latin typeface="Roboto Mono"/>
                <a:ea typeface="Roboto Mono"/>
                <a:cs typeface="Roboto Mono"/>
                <a:sym typeface="Roboto Mono"/>
              </a:rPr>
              <a:t>"2022-12-31"</a:t>
            </a:r>
            <a:endParaRPr sz="500">
              <a:solidFill>
                <a:srgbClr val="188038"/>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AND</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running_month_date</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BETWEEN</a:t>
            </a:r>
            <a:r>
              <a:rPr lang="en" sz="500">
                <a:solidFill>
                  <a:srgbClr val="202124"/>
                </a:solidFill>
                <a:highlight>
                  <a:srgbClr val="FFFFFF"/>
                </a:highlight>
                <a:latin typeface="Roboto Mono"/>
                <a:ea typeface="Roboto Mono"/>
                <a:cs typeface="Roboto Mono"/>
                <a:sym typeface="Roboto Mono"/>
              </a:rPr>
              <a:t> </a:t>
            </a:r>
            <a:r>
              <a:rPr lang="en" sz="500">
                <a:solidFill>
                  <a:srgbClr val="188038"/>
                </a:solidFill>
                <a:highlight>
                  <a:srgbClr val="FFFFFF"/>
                </a:highlight>
                <a:latin typeface="Roboto Mono"/>
                <a:ea typeface="Roboto Mono"/>
                <a:cs typeface="Roboto Mono"/>
                <a:sym typeface="Roboto Mono"/>
              </a:rPr>
              <a:t>"2022-01-01"</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AND</a:t>
            </a:r>
            <a:r>
              <a:rPr lang="en" sz="500">
                <a:solidFill>
                  <a:srgbClr val="202124"/>
                </a:solidFill>
                <a:highlight>
                  <a:srgbClr val="FFFFFF"/>
                </a:highlight>
                <a:latin typeface="Roboto Mono"/>
                <a:ea typeface="Roboto Mono"/>
                <a:cs typeface="Roboto Mono"/>
                <a:sym typeface="Roboto Mono"/>
              </a:rPr>
              <a:t>  </a:t>
            </a:r>
            <a:r>
              <a:rPr lang="en" sz="500">
                <a:solidFill>
                  <a:srgbClr val="188038"/>
                </a:solidFill>
                <a:highlight>
                  <a:srgbClr val="FFFFFF"/>
                </a:highlight>
                <a:latin typeface="Roboto Mono"/>
                <a:ea typeface="Roboto Mono"/>
                <a:cs typeface="Roboto Mono"/>
                <a:sym typeface="Roboto Mono"/>
              </a:rPr>
              <a:t>"2022-12-31"</a:t>
            </a:r>
            <a:endParaRPr sz="500">
              <a:solidFill>
                <a:srgbClr val="188038"/>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GROUP</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1</a:t>
            </a:r>
            <a:r>
              <a:rPr lang="en" sz="500">
                <a:solidFill>
                  <a:srgbClr val="202124"/>
                </a:solidFill>
                <a:highlight>
                  <a:srgbClr val="FFFFFF"/>
                </a:highlight>
                <a:latin typeface="Roboto Mono"/>
                <a:ea typeface="Roboto Mono"/>
                <a:cs typeface="Roboto Mono"/>
                <a:sym typeface="Roboto Mono"/>
              </a:rPr>
              <a:t>,</a:t>
            </a:r>
            <a:r>
              <a:rPr lang="en" sz="500">
                <a:solidFill>
                  <a:srgbClr val="B06000"/>
                </a:solidFill>
                <a:highlight>
                  <a:srgbClr val="FFFFFF"/>
                </a:highlight>
                <a:latin typeface="Roboto Mono"/>
                <a:ea typeface="Roboto Mono"/>
                <a:cs typeface="Roboto Mono"/>
                <a:sym typeface="Roboto Mono"/>
              </a:rPr>
              <a:t>2</a:t>
            </a:r>
            <a:r>
              <a:rPr lang="en" sz="500">
                <a:solidFill>
                  <a:srgbClr val="202124"/>
                </a:solidFill>
                <a:highlight>
                  <a:srgbClr val="FFFFFF"/>
                </a:highlight>
                <a:latin typeface="Roboto Mono"/>
                <a:ea typeface="Roboto Mono"/>
                <a:cs typeface="Roboto Mono"/>
                <a:sym typeface="Roboto Mono"/>
              </a:rPr>
              <a:t>,</a:t>
            </a:r>
            <a:r>
              <a:rPr lang="en" sz="500">
                <a:solidFill>
                  <a:srgbClr val="B06000"/>
                </a:solidFill>
                <a:highlight>
                  <a:srgbClr val="FFFFFF"/>
                </a:highlight>
                <a:latin typeface="Roboto Mono"/>
                <a:ea typeface="Roboto Mono"/>
                <a:cs typeface="Roboto Mono"/>
                <a:sym typeface="Roboto Mono"/>
              </a:rPr>
              <a:t>3</a:t>
            </a:r>
            <a:endParaRPr sz="500">
              <a:solidFill>
                <a:srgbClr val="B06000"/>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3C4043"/>
                </a:solidFill>
                <a:highlight>
                  <a:srgbClr val="FFFFFF"/>
                </a:highlight>
                <a:latin typeface="Roboto Mono"/>
                <a:ea typeface="Roboto Mono"/>
                <a:cs typeface="Roboto Mono"/>
                <a:sym typeface="Roboto Mono"/>
              </a:rPr>
              <a:t>)</a:t>
            </a:r>
            <a:endParaRPr sz="500">
              <a:solidFill>
                <a:srgbClr val="3C4043"/>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SELECT</a:t>
            </a:r>
            <a:endParaRPr sz="500">
              <a:solidFill>
                <a:srgbClr val="1967D2"/>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a:t>
            </a:r>
            <a:endParaRPr sz="500">
              <a:solidFill>
                <a:srgbClr val="202124"/>
              </a:solidFill>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ROUND</a:t>
            </a:r>
            <a:r>
              <a:rPr lang="en" sz="500">
                <a:solidFill>
                  <a:srgbClr val="3C4043"/>
                </a:solidFill>
                <a:highlight>
                  <a:srgbClr val="FFFFFF"/>
                </a:highlight>
                <a:latin typeface="Roboto Mono"/>
                <a:ea typeface="Roboto Mono"/>
                <a:cs typeface="Roboto Mono"/>
                <a:sym typeface="Roboto Mono"/>
              </a:rPr>
              <a:t>(</a:t>
            </a:r>
            <a:r>
              <a:rPr lang="en" sz="500">
                <a:solidFill>
                  <a:srgbClr val="1967D2"/>
                </a:solidFill>
                <a:highlight>
                  <a:srgbClr val="FFFFFF"/>
                </a:highlight>
                <a:latin typeface="Roboto Mono"/>
                <a:ea typeface="Roboto Mono"/>
                <a:cs typeface="Roboto Mono"/>
                <a:sym typeface="Roboto Mono"/>
              </a:rPr>
              <a:t>SAFE_DIVIDE</a:t>
            </a:r>
            <a:r>
              <a:rPr lang="en" sz="500">
                <a:solidFill>
                  <a:srgbClr val="3C4043"/>
                </a:solidFill>
                <a:highlight>
                  <a:srgbClr val="FFFFFF"/>
                </a:highlight>
                <a:latin typeface="Roboto Mono"/>
                <a:ea typeface="Roboto Mono"/>
                <a:cs typeface="Roboto Mono"/>
                <a:sym typeface="Roboto Mono"/>
              </a:rPr>
              <a:t>((</a:t>
            </a:r>
            <a:r>
              <a:rPr lang="en" sz="500">
                <a:highlight>
                  <a:srgbClr val="FFFFFF"/>
                </a:highlight>
                <a:latin typeface="Roboto Mono"/>
                <a:ea typeface="Roboto Mono"/>
                <a:cs typeface="Roboto Mono"/>
                <a:sym typeface="Roboto Mono"/>
              </a:rPr>
              <a:t>total_user</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cohort_size</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100</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2</a:t>
            </a:r>
            <a:r>
              <a:rPr lang="en" sz="500">
                <a:solidFill>
                  <a:srgbClr val="3C4043"/>
                </a:solidFill>
                <a:highlight>
                  <a:srgbClr val="FFFFFF"/>
                </a:highlight>
                <a:latin typeface="Roboto Mono"/>
                <a:ea typeface="Roboto Mono"/>
                <a:cs typeface="Roboto Mono"/>
                <a:sym typeface="Roboto Mono"/>
              </a:rPr>
              <a:t>)</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AS</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returning_user_percentage</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FROM</a:t>
            </a:r>
            <a:r>
              <a:rPr lang="en" sz="500">
                <a:solidFill>
                  <a:srgbClr val="202124"/>
                </a:solidFill>
                <a:highlight>
                  <a:srgbClr val="FFFFFF"/>
                </a:highlight>
                <a:latin typeface="Roboto Mono"/>
                <a:ea typeface="Roboto Mono"/>
                <a:cs typeface="Roboto Mono"/>
                <a:sym typeface="Roboto Mono"/>
              </a:rPr>
              <a:t> </a:t>
            </a:r>
            <a:r>
              <a:rPr lang="en" sz="500">
                <a:highlight>
                  <a:srgbClr val="FFFFFF"/>
                </a:highlight>
                <a:latin typeface="Roboto Mono"/>
                <a:ea typeface="Roboto Mono"/>
                <a:cs typeface="Roboto Mono"/>
                <a:sym typeface="Roboto Mono"/>
              </a:rPr>
              <a:t>cte_3</a:t>
            </a:r>
            <a:endParaRPr sz="500">
              <a:highlight>
                <a:srgbClr val="FFFFFF"/>
              </a:highlight>
              <a:latin typeface="Roboto Mono"/>
              <a:ea typeface="Roboto Mono"/>
              <a:cs typeface="Roboto Mono"/>
              <a:sym typeface="Roboto Mono"/>
            </a:endParaRPr>
          </a:p>
          <a:p>
            <a:pPr indent="0" lvl="0" marL="0" rtl="0" algn="l">
              <a:lnSpc>
                <a:spcPct val="133333"/>
              </a:lnSpc>
              <a:spcBef>
                <a:spcPts val="0"/>
              </a:spcBef>
              <a:spcAft>
                <a:spcPts val="0"/>
              </a:spcAft>
              <a:buClr>
                <a:schemeClr val="dk2"/>
              </a:buClr>
              <a:buSzPts val="1100"/>
              <a:buFont typeface="Arial"/>
              <a:buNone/>
            </a:pPr>
            <a:r>
              <a:rPr lang="en" sz="500">
                <a:solidFill>
                  <a:srgbClr val="1967D2"/>
                </a:solidFill>
                <a:highlight>
                  <a:srgbClr val="FFFFFF"/>
                </a:highlight>
                <a:latin typeface="Roboto Mono"/>
                <a:ea typeface="Roboto Mono"/>
                <a:cs typeface="Roboto Mono"/>
                <a:sym typeface="Roboto Mono"/>
              </a:rPr>
              <a:t>ORDER</a:t>
            </a:r>
            <a:r>
              <a:rPr lang="en" sz="500">
                <a:solidFill>
                  <a:srgbClr val="202124"/>
                </a:solidFill>
                <a:highlight>
                  <a:srgbClr val="FFFFFF"/>
                </a:highlight>
                <a:latin typeface="Roboto Mono"/>
                <a:ea typeface="Roboto Mono"/>
                <a:cs typeface="Roboto Mono"/>
                <a:sym typeface="Roboto Mono"/>
              </a:rPr>
              <a:t> </a:t>
            </a:r>
            <a:r>
              <a:rPr lang="en" sz="500">
                <a:solidFill>
                  <a:srgbClr val="1967D2"/>
                </a:solidFill>
                <a:highlight>
                  <a:srgbClr val="FFFFFF"/>
                </a:highlight>
                <a:latin typeface="Roboto Mono"/>
                <a:ea typeface="Roboto Mono"/>
                <a:cs typeface="Roboto Mono"/>
                <a:sym typeface="Roboto Mono"/>
              </a:rPr>
              <a:t>BY</a:t>
            </a:r>
            <a:r>
              <a:rPr lang="en" sz="500">
                <a:solidFill>
                  <a:srgbClr val="202124"/>
                </a:solidFill>
                <a:highlight>
                  <a:srgbClr val="FFFFFF"/>
                </a:highlight>
                <a:latin typeface="Roboto Mono"/>
                <a:ea typeface="Roboto Mono"/>
                <a:cs typeface="Roboto Mono"/>
                <a:sym typeface="Roboto Mono"/>
              </a:rPr>
              <a:t> </a:t>
            </a:r>
            <a:r>
              <a:rPr lang="en" sz="500">
                <a:solidFill>
                  <a:srgbClr val="B06000"/>
                </a:solidFill>
                <a:highlight>
                  <a:srgbClr val="FFFFFF"/>
                </a:highlight>
                <a:latin typeface="Roboto Mono"/>
                <a:ea typeface="Roboto Mono"/>
                <a:cs typeface="Roboto Mono"/>
                <a:sym typeface="Roboto Mono"/>
              </a:rPr>
              <a:t>1</a:t>
            </a:r>
            <a:r>
              <a:rPr lang="en" sz="500">
                <a:solidFill>
                  <a:srgbClr val="202124"/>
                </a:solidFill>
                <a:highlight>
                  <a:srgbClr val="FFFFFF"/>
                </a:highlight>
                <a:latin typeface="Roboto Mono"/>
                <a:ea typeface="Roboto Mono"/>
                <a:cs typeface="Roboto Mono"/>
                <a:sym typeface="Roboto Mono"/>
              </a:rPr>
              <a:t>,</a:t>
            </a:r>
            <a:r>
              <a:rPr lang="en" sz="500">
                <a:solidFill>
                  <a:srgbClr val="B06000"/>
                </a:solidFill>
                <a:highlight>
                  <a:srgbClr val="FFFFFF"/>
                </a:highlight>
                <a:latin typeface="Roboto Mono"/>
                <a:ea typeface="Roboto Mono"/>
                <a:cs typeface="Roboto Mono"/>
                <a:sym typeface="Roboto Mono"/>
              </a:rPr>
              <a:t>2</a:t>
            </a:r>
            <a:endParaRPr sz="500">
              <a:solidFill>
                <a:srgbClr val="B06000"/>
              </a:solidFill>
              <a:highlight>
                <a:srgbClr val="FFFFFF"/>
              </a:highlight>
              <a:latin typeface="Roboto Mono"/>
              <a:ea typeface="Roboto Mono"/>
              <a:cs typeface="Roboto Mono"/>
              <a:sym typeface="Roboto Mono"/>
            </a:endParaRPr>
          </a:p>
          <a:p>
            <a:pPr indent="0" lvl="0" marL="0" rtl="0" algn="l">
              <a:spcBef>
                <a:spcPts val="0"/>
              </a:spcBef>
              <a:spcAft>
                <a:spcPts val="1600"/>
              </a:spcAft>
              <a:buNone/>
            </a:pPr>
            <a:r>
              <a:t/>
            </a:r>
            <a:endParaRPr b="1" sz="50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Visualization </a:t>
            </a:r>
            <a:r>
              <a:rPr lang="en" sz="2100" u="sng">
                <a:solidFill>
                  <a:schemeClr val="hlink"/>
                </a:solidFill>
                <a:hlinkClick r:id="rId3"/>
              </a:rPr>
              <a:t>SpreadSheet</a:t>
            </a:r>
            <a:endParaRPr sz="2100"/>
          </a:p>
        </p:txBody>
      </p:sp>
      <p:sp>
        <p:nvSpPr>
          <p:cNvPr id="140" name="Google Shape;140;p24"/>
          <p:cNvSpPr txBox="1"/>
          <p:nvPr>
            <p:ph idx="1" type="body"/>
          </p:nvPr>
        </p:nvSpPr>
        <p:spPr>
          <a:xfrm>
            <a:off x="1449900" y="840375"/>
            <a:ext cx="6244200" cy="3848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b="1" sz="500">
              <a:solidFill>
                <a:schemeClr val="accent1"/>
              </a:solidFill>
            </a:endParaRPr>
          </a:p>
        </p:txBody>
      </p:sp>
      <p:pic>
        <p:nvPicPr>
          <p:cNvPr id="141" name="Google Shape;141;p24" title="Screenshot 2026-04-10 220852.png"/>
          <p:cNvPicPr preferRelativeResize="0"/>
          <p:nvPr/>
        </p:nvPicPr>
        <p:blipFill>
          <a:blip r:embed="rId4">
            <a:alphaModFix/>
          </a:blip>
          <a:stretch>
            <a:fillRect/>
          </a:stretch>
        </p:blipFill>
        <p:spPr>
          <a:xfrm>
            <a:off x="0" y="690079"/>
            <a:ext cx="9144001" cy="40935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 Derivation</a:t>
            </a:r>
            <a:endParaRPr/>
          </a:p>
        </p:txBody>
      </p:sp>
      <p:sp>
        <p:nvSpPr>
          <p:cNvPr id="147" name="Google Shape;147;p25"/>
          <p:cNvSpPr txBox="1"/>
          <p:nvPr>
            <p:ph idx="1" type="body"/>
          </p:nvPr>
        </p:nvSpPr>
        <p:spPr>
          <a:xfrm>
            <a:off x="4572000" y="840375"/>
            <a:ext cx="4572000" cy="39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900"/>
              <a:t>Customer Behaviour </a:t>
            </a:r>
            <a:endParaRPr b="1" sz="900"/>
          </a:p>
          <a:p>
            <a:pPr indent="0" lvl="0" marL="0" rtl="0" algn="l">
              <a:spcBef>
                <a:spcPts val="0"/>
              </a:spcBef>
              <a:spcAft>
                <a:spcPts val="0"/>
              </a:spcAft>
              <a:buNone/>
            </a:pPr>
            <a:r>
              <a:rPr lang="en" sz="900"/>
              <a:t>Retention Rate on TheLook eCommerce is so low with only 3-8 % user completed transaction after the following month of their first purchase, this might possibly happen because low customer satisfaction ( product, system , etc)</a:t>
            </a:r>
            <a:endParaRPr sz="900"/>
          </a:p>
          <a:p>
            <a:pPr indent="0" lvl="0" marL="0" rtl="0" algn="l">
              <a:spcBef>
                <a:spcPts val="0"/>
              </a:spcBef>
              <a:spcAft>
                <a:spcPts val="0"/>
              </a:spcAft>
              <a:buNone/>
            </a:pPr>
            <a:br>
              <a:rPr lang="en" sz="900"/>
            </a:br>
            <a:r>
              <a:rPr b="1" lang="en" sz="900"/>
              <a:t>Customer Base</a:t>
            </a:r>
            <a:endParaRPr b="1" sz="900"/>
          </a:p>
          <a:p>
            <a:pPr indent="0" lvl="0" marL="0" rtl="0" algn="l">
              <a:spcBef>
                <a:spcPts val="0"/>
              </a:spcBef>
              <a:spcAft>
                <a:spcPts val="0"/>
              </a:spcAft>
              <a:buNone/>
            </a:pPr>
            <a:r>
              <a:rPr lang="en" sz="900"/>
              <a:t>With around 90-95% Customer Churn Rate after initial purchase TheLook customerbase health is severely at risk, because this indicate most of its customer are bargain/promo hunter</a:t>
            </a:r>
            <a:endParaRPr sz="900"/>
          </a:p>
          <a:p>
            <a:pPr indent="0" lvl="0" marL="0" rtl="0" algn="l">
              <a:spcBef>
                <a:spcPts val="0"/>
              </a:spcBef>
              <a:spcAft>
                <a:spcPts val="0"/>
              </a:spcAft>
              <a:buNone/>
            </a:pPr>
            <a:br>
              <a:rPr lang="en" sz="900"/>
            </a:br>
            <a:r>
              <a:rPr b="1" lang="en" sz="900"/>
              <a:t>Compare Groups </a:t>
            </a:r>
            <a:endParaRPr b="1" sz="900"/>
          </a:p>
          <a:p>
            <a:pPr indent="0" lvl="0" marL="0" rtl="0" algn="l">
              <a:spcBef>
                <a:spcPts val="0"/>
              </a:spcBef>
              <a:spcAft>
                <a:spcPts val="0"/>
              </a:spcAft>
              <a:buNone/>
            </a:pPr>
            <a:r>
              <a:rPr b="1" lang="en" sz="900"/>
              <a:t>O</a:t>
            </a:r>
            <a:r>
              <a:rPr lang="en" sz="900"/>
              <a:t>ver the time the TheLook Retention Rate steadily growing especially from the newest batch of customer, might  indicating company awarness and  willingness to adress and fix this matter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b="1" lang="en" sz="900"/>
              <a:t>Acquisition Cost </a:t>
            </a:r>
            <a:endParaRPr b="1" sz="900"/>
          </a:p>
          <a:p>
            <a:pPr indent="0" lvl="0" marL="0" rtl="0" algn="l">
              <a:spcBef>
                <a:spcPts val="0"/>
              </a:spcBef>
              <a:spcAft>
                <a:spcPts val="0"/>
              </a:spcAft>
              <a:buNone/>
            </a:pPr>
            <a:r>
              <a:rPr lang="en" sz="900"/>
              <a:t>Big Customer Churn Rate will also hinder the Customer Acquisition Cost Efficiency , indicating TheLook campaign model is unsustainable and need to be revised</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b="1" lang="en" sz="900"/>
              <a:t>Reacceleration</a:t>
            </a:r>
            <a:endParaRPr b="1" sz="900"/>
          </a:p>
          <a:p>
            <a:pPr indent="0" lvl="0" marL="0" rtl="0" algn="l">
              <a:spcBef>
                <a:spcPts val="0"/>
              </a:spcBef>
              <a:spcAft>
                <a:spcPts val="0"/>
              </a:spcAft>
              <a:buNone/>
            </a:pPr>
            <a:r>
              <a:rPr lang="en" sz="900"/>
              <a:t>Several</a:t>
            </a:r>
            <a:r>
              <a:rPr lang="en" sz="900"/>
              <a:t> months with higher customer than previous month, might indicate shift on customer trend, or seasonal. Further analysis are required.</a:t>
            </a:r>
            <a:endParaRPr sz="900"/>
          </a:p>
          <a:p>
            <a:pPr indent="0" lvl="0" marL="0" rtl="0" algn="l">
              <a:spcBef>
                <a:spcPts val="0"/>
              </a:spcBef>
              <a:spcAft>
                <a:spcPts val="0"/>
              </a:spcAft>
              <a:buNone/>
            </a:pPr>
            <a:r>
              <a:t/>
            </a:r>
            <a:endParaRPr sz="900"/>
          </a:p>
        </p:txBody>
      </p:sp>
      <p:pic>
        <p:nvPicPr>
          <p:cNvPr id="148" name="Google Shape;148;p25" title="Screenshot 2026-04-10 223709.png"/>
          <p:cNvPicPr preferRelativeResize="0"/>
          <p:nvPr/>
        </p:nvPicPr>
        <p:blipFill>
          <a:blip r:embed="rId3">
            <a:alphaModFix/>
          </a:blip>
          <a:stretch>
            <a:fillRect/>
          </a:stretch>
        </p:blipFill>
        <p:spPr>
          <a:xfrm>
            <a:off x="0" y="840375"/>
            <a:ext cx="4572000" cy="3913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1411200" y="204975"/>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 Derivation</a:t>
            </a:r>
            <a:endParaRPr/>
          </a:p>
        </p:txBody>
      </p:sp>
      <p:sp>
        <p:nvSpPr>
          <p:cNvPr id="154" name="Google Shape;154;p26"/>
          <p:cNvSpPr txBox="1"/>
          <p:nvPr>
            <p:ph idx="1" type="body"/>
          </p:nvPr>
        </p:nvSpPr>
        <p:spPr>
          <a:xfrm>
            <a:off x="1449900" y="910975"/>
            <a:ext cx="6244200" cy="37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accent1"/>
                </a:solidFill>
              </a:rPr>
              <a:t>Company Context (with BCG Matrix)</a:t>
            </a:r>
            <a:endParaRPr b="1" sz="1700">
              <a:solidFill>
                <a:schemeClr val="accent1"/>
              </a:solidFill>
            </a:endParaRPr>
          </a:p>
          <a:p>
            <a:pPr indent="0" lvl="0" marL="0" rtl="0" algn="l">
              <a:spcBef>
                <a:spcPts val="1600"/>
              </a:spcBef>
              <a:spcAft>
                <a:spcPts val="0"/>
              </a:spcAft>
              <a:buNone/>
            </a:pPr>
            <a:r>
              <a:rPr lang="en" sz="1000"/>
              <a:t>Shift in company policy</a:t>
            </a:r>
            <a:endParaRPr sz="1000"/>
          </a:p>
          <a:p>
            <a:pPr indent="0" lvl="0" marL="0" rtl="0" algn="l">
              <a:spcBef>
                <a:spcPts val="1600"/>
              </a:spcBef>
              <a:spcAft>
                <a:spcPts val="0"/>
              </a:spcAft>
              <a:buNone/>
            </a:pPr>
            <a:r>
              <a:rPr lang="en" sz="1000"/>
              <a:t>The rising retention and acquisition numbers suggest that management has redirected its efforts toward </a:t>
            </a:r>
            <a:r>
              <a:rPr b="1" lang="en" sz="1000"/>
              <a:t>customer experience and loyalty</a:t>
            </a:r>
            <a:r>
              <a:rPr lang="en" sz="1000"/>
              <a:t>. However, this shift likely came at the </a:t>
            </a:r>
            <a:r>
              <a:rPr b="1" lang="en" sz="1000"/>
              <a:t>cost of the Inbound and Inventory budget</a:t>
            </a:r>
            <a:r>
              <a:rPr lang="en" sz="1000"/>
              <a:t>. While the customer side is thriving, the supply side is struggling to keep up, creating a gap between high demand and low stock.</a:t>
            </a:r>
            <a:endParaRPr sz="1000"/>
          </a:p>
          <a:p>
            <a:pPr indent="0" lvl="0" marL="0" rtl="0" algn="l">
              <a:spcBef>
                <a:spcPts val="1600"/>
              </a:spcBef>
              <a:spcAft>
                <a:spcPts val="0"/>
              </a:spcAft>
              <a:buNone/>
            </a:pPr>
            <a:r>
              <a:rPr lang="en" sz="1000"/>
              <a:t>Star Categories Prioritization</a:t>
            </a:r>
            <a:endParaRPr sz="1000"/>
          </a:p>
          <a:p>
            <a:pPr indent="0" lvl="0" marL="0" rtl="0" algn="l">
              <a:spcBef>
                <a:spcPts val="1600"/>
              </a:spcBef>
              <a:spcAft>
                <a:spcPts val="1600"/>
              </a:spcAft>
              <a:buNone/>
            </a:pPr>
            <a:r>
              <a:rPr lang="en" sz="1000"/>
              <a:t>By </a:t>
            </a:r>
            <a:r>
              <a:rPr b="1" lang="en" sz="1000"/>
              <a:t>liquidating "Pets" and reinvesting in "Stars," </a:t>
            </a:r>
            <a:r>
              <a:rPr lang="en" sz="1000"/>
              <a:t>the company has significantly improved the quality of its product selection. Providing a more curated and </a:t>
            </a:r>
            <a:r>
              <a:rPr b="1" lang="en" sz="1000"/>
              <a:t>high-performing catalog</a:t>
            </a:r>
            <a:r>
              <a:rPr lang="en" sz="1000"/>
              <a:t> that potentially increases customer satisfaction. This improved experience makes customers more likely to return, driving a steady increase in the Retention Rate.</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